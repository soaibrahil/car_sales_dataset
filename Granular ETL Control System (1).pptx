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Inter ExtraBold"/>
      <p:bold r:id="rId27"/>
      <p:boldItalic r:id="rId28"/>
    </p:embeddedFont>
    <p:embeddedFont>
      <p:font typeface="Outfit SemiBo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1491E-7C67-4782-B8DC-4C35D7806F25}">
  <a:tblStyle styleId="{3B71491E-7C67-4782-B8DC-4C35D7806F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utfit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0" y="4105126"/>
            <a:ext cx="190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95275" y="2143125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Outfit"/>
                <a:ea typeface="Outfit"/>
                <a:cs typeface="Outfit"/>
                <a:sym typeface="Outfit"/>
              </a:rPr>
              <a:t>Precision ETL Strategy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308788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Intelligent Table-Level Dependency &amp; Execution Control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7250" y="4257526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4250" y="4257526"/>
            <a:ext cx="1905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1057"/>
            <a:ext cx="52863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Beyond Batch Processing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11990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"Batch" Problem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59615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systems wait for an entire batch to finish. One failing table stops 100 successful ones from being processed.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19907"/>
            <a:ext cx="5286375" cy="3522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0986" y="3928777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5237"/>
            <a:ext cx="35559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8450" y="2395537"/>
            <a:ext cx="7112049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1: Status Observation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395537"/>
            <a:ext cx="3555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Controller Job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runs from 1:00 AM to 4:00 AM. It identifies today's dependencies and logs their individual ETL health every cycle.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1050" y="4014787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Process: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517975" y="2405062"/>
            <a:ext cx="7092999" cy="29527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15"/>
          <p:cNvGraphicFramePr/>
          <p:nvPr/>
        </p:nvGraphicFramePr>
        <p:xfrm>
          <a:off x="4517975" y="2405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{3B71491E-7C67-4782-B8DC-4C35D7806F25}</a:tableStyleId>
              </a:tblPr>
              <a:tblGrid>
                <a:gridCol w="1764175"/>
                <a:gridCol w="1386300"/>
                <a:gridCol w="1563750"/>
                <a:gridCol w="237875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Patient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01:15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Encounter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01:45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02:30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03:00 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5"/>
          <p:cNvSpPr/>
          <p:nvPr/>
        </p:nvSpPr>
        <p:spPr>
          <a:xfrm>
            <a:off x="4517975" y="3005137"/>
            <a:ext cx="125566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73638" y="3005137"/>
            <a:ext cx="27469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520558" y="3005137"/>
            <a:ext cx="148128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001845" y="3005137"/>
            <a:ext cx="160912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517975" y="3600450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73638" y="3600450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520558" y="3600450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001845" y="3600450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517975" y="4181475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73638" y="4181475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520558" y="4181475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0001845" y="4181475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517975" y="4762500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73638" y="4762500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520558" y="4762500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0001845" y="4762500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517975" y="5343525"/>
            <a:ext cx="12556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73638" y="5343525"/>
            <a:ext cx="27469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520558" y="5343525"/>
            <a:ext cx="148128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10001845" y="5343525"/>
            <a:ext cx="16091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5831" y="3187200"/>
            <a:ext cx="857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9575" y="3768225"/>
            <a:ext cx="8572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882200" y="5593600"/>
            <a:ext cx="4370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Daily_Table_ETL_Log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64812" y="4938700"/>
            <a:ext cx="8667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9575" y="4357688"/>
            <a:ext cx="85725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2026" y="2243137"/>
            <a:ext cx="3333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2: Case - Full Success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0976" y="34099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600426" y="3981450"/>
            <a:ext cx="1752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All Success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642026" y="5100637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signals: GO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1726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7978735" y="3290887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653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Extract_Finance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42076" y="3767137"/>
            <a:ext cx="2533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6653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etl_successful = Y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322270" y="2671760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552992" y="2758067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T1: Patient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3438" y="2838450"/>
            <a:ext cx="314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1320800" y="3500435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551523" y="3586742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T2: Encounter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3147" y="3680868"/>
            <a:ext cx="314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1322275" y="4442885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552998" y="4529192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T3: Account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4622" y="4623318"/>
            <a:ext cx="3143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6614" y="2243137"/>
            <a:ext cx="3333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2: Case - Partial Failure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0976" y="34099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3776513" y="3981450"/>
            <a:ext cx="3400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Missing Dependencies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916614" y="5100637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signals: STOP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314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8253323" y="3290887"/>
            <a:ext cx="26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91B1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Extract_</a:t>
            </a:r>
            <a:r>
              <a:rPr lang="en-US" sz="2100">
                <a:solidFill>
                  <a:srgbClr val="991B1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Medication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316664" y="3767137"/>
            <a:ext cx="25336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91B1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etl_successful = N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1047670" y="2671748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278392" y="2758054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T1: Patient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38838" y="2838437"/>
            <a:ext cx="314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/>
          <p:nvPr/>
        </p:nvSpPr>
        <p:spPr>
          <a:xfrm>
            <a:off x="1046195" y="3624248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1276917" y="3710554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T2: Encounter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8463" y="3806744"/>
            <a:ext cx="314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1047682" y="4690560"/>
            <a:ext cx="1882800" cy="5715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278405" y="4776867"/>
            <a:ext cx="1418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T1: Medication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86864" y="4870993"/>
            <a:ext cx="30480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5087"/>
            <a:ext cx="11049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Summary Logging Table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21859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After the mapping logic processes the results, the Final Decision Table is populated for the Execution Phase.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81025" y="2614612"/>
            <a:ext cx="11029950" cy="29527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8"/>
          <p:cNvGraphicFramePr/>
          <p:nvPr/>
        </p:nvGraphicFramePr>
        <p:xfrm>
          <a:off x="581025" y="2614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{3B71491E-7C67-4782-B8DC-4C35D7806F25}</a:tableStyleId>
              </a:tblPr>
              <a:tblGrid>
                <a:gridCol w="1584425"/>
                <a:gridCol w="3787975"/>
                <a:gridCol w="3330025"/>
                <a:gridCol w="2327525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 Name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Required Tables Count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etl_successful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Extract_Finance_Daily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</a:t>
                      </a: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Medication</a:t>
                      </a: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_</a:t>
                      </a:r>
                      <a:r>
                        <a:rPr lang="en-US" sz="15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Dailt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Extract_Marketing_Reports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2026-02-05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Extract_HR_Audit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8"/>
          <p:cNvSpPr/>
          <p:nvPr/>
        </p:nvSpPr>
        <p:spPr>
          <a:xfrm>
            <a:off x="581025" y="3214687"/>
            <a:ext cx="158442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2165449" y="3214687"/>
            <a:ext cx="37879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53422" y="3214687"/>
            <a:ext cx="333002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9283451" y="3214687"/>
            <a:ext cx="232752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81025" y="3810000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2165449" y="3810000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953422" y="3810000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9283451" y="3810000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81025" y="4391025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2165449" y="4391025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953422" y="4391025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9283451" y="4391025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81025" y="4972050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165449" y="4972050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953422" y="4972050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9283451" y="4972050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81025" y="5553075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2165449" y="5553075"/>
            <a:ext cx="37879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953422" y="5553075"/>
            <a:ext cx="333002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9283451" y="5553075"/>
            <a:ext cx="232752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3395662"/>
            <a:ext cx="352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12051" y="3976687"/>
            <a:ext cx="361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4557712"/>
            <a:ext cx="352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051" y="5138737"/>
            <a:ext cx="352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2788500" y="5758100"/>
            <a:ext cx="661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Daily_Extact_ETL_Status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875" y="32194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0" y="30670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Phase 3: Final Job Execution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502443" y="39338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Trigger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571500" y="4410075"/>
            <a:ext cx="2762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Scheduled Job wakes up.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4645818" y="37814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Validate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4714875" y="4257675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Check "etl_successful" column.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789193" y="4867161"/>
            <a:ext cx="29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Action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8858250" y="5343411"/>
            <a:ext cx="27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LOG/SKIP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Extract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2968600" y="3477100"/>
            <a:ext cx="1759200" cy="27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8762928" y="2188402"/>
            <a:ext cx="29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Action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831985" y="2664652"/>
            <a:ext cx="27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Execute Extract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'Y'</a:t>
            </a:r>
            <a:endParaRPr/>
          </a:p>
        </p:txBody>
      </p:sp>
      <p:pic>
        <p:nvPicPr>
          <p:cNvPr descr="image.png" id="237" name="Google Shape;23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7360" y="147402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9953650" y="4258920"/>
            <a:ext cx="571500" cy="523800"/>
          </a:xfrm>
          <a:prstGeom prst="ellipse">
            <a:avLst/>
          </a:prstGeom>
          <a:solidFill>
            <a:srgbClr val="EF44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10156430" y="4405319"/>
            <a:ext cx="19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240" name="Google Shape;240;p19"/>
          <p:cNvSpPr/>
          <p:nvPr/>
        </p:nvSpPr>
        <p:spPr>
          <a:xfrm rot="-1900252">
            <a:off x="7324284" y="2573704"/>
            <a:ext cx="1759298" cy="2749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 rot="1270963">
            <a:off x="7324302" y="4057811"/>
            <a:ext cx="1759269" cy="2751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Reliability &amp; Continuity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571500" y="245105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Safety First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571500" y="29273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forcing the check at the table level, we ensure no extract ever runs with partial or corrupted data.</a:t>
            </a:r>
            <a:endParaRPr/>
          </a:p>
        </p:txBody>
      </p:sp>
      <p:pic>
        <p:nvPicPr>
          <p:cNvPr descr="image.png" id="250" name="Google Shape;2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51050"/>
            <a:ext cx="5286375" cy="28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657225" y="3689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762000" y="36893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downstream reporting errors.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57225" y="408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762000" y="40893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the "Wait or Skip" decision.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57225" y="4489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762000" y="44894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Reduces manual intervention by 80%.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Delivery Efficiency Impact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571500" y="43862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Significant reduction in nightly batch "Hold-ups" by processing independent tables.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9314"/>
            <a:ext cx="3492400" cy="2064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49314"/>
            <a:ext cx="3492549" cy="2064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849314"/>
            <a:ext cx="3492400" cy="206424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3A8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Full Process Architecture</a:t>
            </a:r>
            <a:endParaRPr/>
          </a:p>
        </p:txBody>
      </p:sp>
      <p:pic>
        <p:nvPicPr>
          <p:cNvPr descr="image.png" id="274" name="Google Shape;27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5300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704217" y="3709094"/>
            <a:ext cx="3226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Monitoring Loop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81050" y="4102149"/>
            <a:ext cx="30733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AM - 4 AM check on table ETL status.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451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4482364" y="3709094"/>
            <a:ext cx="32271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Decision Mapping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4559200" y="4102149"/>
            <a:ext cx="30734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Consolidate table health to Extract Flag (Y/N).</a:t>
            </a:r>
            <a:endParaRPr/>
          </a:p>
        </p:txBody>
      </p:sp>
      <p:pic>
        <p:nvPicPr>
          <p:cNvPr descr="image.png" id="280" name="Google Shape;2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1750" y="305886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8260667" y="3709094"/>
            <a:ext cx="32269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Smart Trigger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337500" y="4102149"/>
            <a:ext cx="30733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Extracts run based on confirmed Flag status.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
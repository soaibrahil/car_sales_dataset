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Outfit"/>
      <p:regular r:id="rId28"/>
      <p:bold r:id="rId29"/>
    </p:embeddedFont>
    <p:embeddedFont>
      <p:font typeface="Inter ExtraBold"/>
      <p:bold r:id="rId30"/>
      <p:boldItalic r:id="rId31"/>
    </p:embeddedFont>
    <p:embeddedFont>
      <p:font typeface="Outfit SemiBo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02CE10-5B50-40F4-8919-4F5125757794}">
  <a:tblStyle styleId="{6002CE10-5B50-40F4-8919-4F51257577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Outfit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5.xml"/><Relationship Id="rId33" Type="http://schemas.openxmlformats.org/officeDocument/2006/relationships/font" Target="fonts/OutfitSemiBold-bold.fntdata"/><Relationship Id="rId10" Type="http://schemas.openxmlformats.org/officeDocument/2006/relationships/slide" Target="slides/slide4.xml"/><Relationship Id="rId32" Type="http://schemas.openxmlformats.org/officeDocument/2006/relationships/font" Target="fonts/OutfitSemiBo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2.png"/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11" Type="http://schemas.openxmlformats.org/officeDocument/2006/relationships/image" Target="../media/image31.png"/><Relationship Id="rId10" Type="http://schemas.openxmlformats.org/officeDocument/2006/relationships/image" Target="../media/image25.png"/><Relationship Id="rId12" Type="http://schemas.openxmlformats.org/officeDocument/2006/relationships/image" Target="../media/image27.png"/><Relationship Id="rId9" Type="http://schemas.openxmlformats.org/officeDocument/2006/relationships/image" Target="../media/image30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Relationship Id="rId7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42.png"/><Relationship Id="rId9" Type="http://schemas.openxmlformats.org/officeDocument/2006/relationships/image" Target="../media/image55.png"/><Relationship Id="rId5" Type="http://schemas.openxmlformats.org/officeDocument/2006/relationships/image" Target="../media/image43.png"/><Relationship Id="rId6" Type="http://schemas.openxmlformats.org/officeDocument/2006/relationships/image" Target="../media/image54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56.png"/><Relationship Id="rId5" Type="http://schemas.openxmlformats.org/officeDocument/2006/relationships/image" Target="../media/image53.png"/><Relationship Id="rId6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4000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4105126"/>
            <a:ext cx="1905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4105126"/>
            <a:ext cx="1905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0" y="4105126"/>
            <a:ext cx="190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95275" y="2143125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Precision ETL Strategy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308788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Intelligent Table-Level Dependency &amp; Execution Control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7250" y="4257526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4250" y="4257526"/>
            <a:ext cx="1905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01057"/>
            <a:ext cx="52863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Beyond Batch Processing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11990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"Batch" Problem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59615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systems wait for an entire batch to finish. One failing table stops 100 successful ones from being processed.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19907"/>
            <a:ext cx="5286375" cy="3522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3929657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05237"/>
            <a:ext cx="35559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8450" y="2395537"/>
            <a:ext cx="7112049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1: Status Observation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395537"/>
            <a:ext cx="3555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Controller Job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runs from 1:00 AM to 4:00 AM. It identifies today's dependencies and logs their individual ETL health every cycle.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1050" y="4014787"/>
            <a:ext cx="657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Process: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517975" y="2405062"/>
            <a:ext cx="7092999" cy="29527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15"/>
          <p:cNvGraphicFramePr/>
          <p:nvPr/>
        </p:nvGraphicFramePr>
        <p:xfrm>
          <a:off x="4517975" y="2405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{6002CE10-5B50-40F4-8919-4F5125757794}</a:tableStyleId>
              </a:tblPr>
              <a:tblGrid>
                <a:gridCol w="1255650"/>
                <a:gridCol w="2746925"/>
                <a:gridCol w="1481275"/>
                <a:gridCol w="1609125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ETL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Table_Customer_Master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01:15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Table_Orders_Archive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01:45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Table_Daily_Inventory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Running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02:30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Table_Global_Prices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03:00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5"/>
          <p:cNvSpPr/>
          <p:nvPr/>
        </p:nvSpPr>
        <p:spPr>
          <a:xfrm>
            <a:off x="4517975" y="3005137"/>
            <a:ext cx="125566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73638" y="3005137"/>
            <a:ext cx="2746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520558" y="3005137"/>
            <a:ext cx="148128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001845" y="3005137"/>
            <a:ext cx="160912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517975" y="3600450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73638" y="3600450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520558" y="3600450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0001845" y="3600450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517975" y="4181475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73638" y="4181475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520558" y="4181475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0001845" y="4181475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517975" y="4762500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73638" y="4762500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520558" y="4762500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10001845" y="4762500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517975" y="5343525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73638" y="5343525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520558" y="5343525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10001845" y="5343525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9158" y="3214687"/>
            <a:ext cx="857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9158" y="3795712"/>
            <a:ext cx="857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9158" y="4376737"/>
            <a:ext cx="8667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9158" y="4957762"/>
            <a:ext cx="85725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925" y="2824162"/>
            <a:ext cx="2095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5925" y="3576637"/>
            <a:ext cx="2095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5925" y="4329112"/>
            <a:ext cx="2095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2026" y="2243137"/>
            <a:ext cx="33337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2: Case - Full Success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90976" y="34099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4600426" y="3981450"/>
            <a:ext cx="1752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All Success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42026" y="5100637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signals: GO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9413" y="3014662"/>
            <a:ext cx="314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20850" y="3767137"/>
            <a:ext cx="314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54188" y="4519612"/>
            <a:ext cx="314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51726" y="26431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978735" y="3290887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65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Extract_Finance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042076" y="3767137"/>
            <a:ext cx="2533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etl_successful = 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337" y="2824162"/>
            <a:ext cx="2095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337" y="3576637"/>
            <a:ext cx="2095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337" y="4329112"/>
            <a:ext cx="2095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6614" y="2243137"/>
            <a:ext cx="33337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2: Case - Partial Failure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90976" y="34099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3776513" y="3981450"/>
            <a:ext cx="3400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Missing Dependencies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916614" y="5100637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signals: STOP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74837" y="3014662"/>
            <a:ext cx="314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2937" y="3767137"/>
            <a:ext cx="314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98662" y="4519612"/>
            <a:ext cx="3048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26314" y="26431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8253323" y="3290887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91B1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Extract_Logistics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16664" y="3767137"/>
            <a:ext cx="2533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91B1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etl_successful = 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5087"/>
            <a:ext cx="11049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Summary Logging Table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21859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After the mapping logic processes the results, the Final Decision Table is populated for the Execution Phase.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" y="2614612"/>
            <a:ext cx="11029950" cy="29527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8"/>
          <p:cNvGraphicFramePr/>
          <p:nvPr/>
        </p:nvGraphicFramePr>
        <p:xfrm>
          <a:off x="581025" y="2614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{6002CE10-5B50-40F4-8919-4F5125757794}</a:tableStyleId>
              </a:tblPr>
              <a:tblGrid>
                <a:gridCol w="1584425"/>
                <a:gridCol w="3787975"/>
                <a:gridCol w="3330025"/>
                <a:gridCol w="2327525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Required Tables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etl_successful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Extract_Finance_Daily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Extract_Logistics_Nightly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Extract_Marketing_Reports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Extract_HR_Audit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18"/>
          <p:cNvSpPr/>
          <p:nvPr/>
        </p:nvSpPr>
        <p:spPr>
          <a:xfrm>
            <a:off x="581025" y="3214687"/>
            <a:ext cx="158442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2165449" y="3214687"/>
            <a:ext cx="378797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953422" y="3214687"/>
            <a:ext cx="333002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9283451" y="3214687"/>
            <a:ext cx="232752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1025" y="3810000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165449" y="3810000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953422" y="3810000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9283451" y="3810000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81025" y="4391025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165449" y="4391025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953422" y="4391025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283451" y="4391025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81025" y="4972050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2165449" y="4972050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5953422" y="4972050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9283451" y="4972050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81025" y="5553075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165449" y="5553075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953422" y="5553075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9283451" y="5553075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051" y="3395662"/>
            <a:ext cx="352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12051" y="3976687"/>
            <a:ext cx="361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051" y="4557712"/>
            <a:ext cx="352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051" y="5138737"/>
            <a:ext cx="3524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875" y="32194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30670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3625" y="3067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3: Final Job Execution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502443" y="39338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Trigger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571500" y="4410075"/>
            <a:ext cx="2762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Scheduled Job wakes up.</a:t>
            </a:r>
            <a:endParaRPr/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29062" y="3871912"/>
            <a:ext cx="190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4645818" y="37814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Validate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714875" y="4257675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 "etl_successful" column.</a:t>
            </a:r>
            <a:endParaRPr/>
          </a:p>
        </p:txBody>
      </p:sp>
      <p:pic>
        <p:nvPicPr>
          <p:cNvPr descr="image.png" id="226" name="Google Shape;22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2437" y="3871912"/>
            <a:ext cx="190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8789193" y="37814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Action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858250" y="4257675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Execute IF 'Y', otherwise LOG/SKIP.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Reliability &amp; Continuity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71500" y="245105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Safety First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71500" y="29273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forcing the check at the table level, we ensure no extract ever runs with partial or corrupted data.</a:t>
            </a:r>
            <a:endParaRPr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51050"/>
            <a:ext cx="5286375" cy="28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657225" y="3689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62000" y="36893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Prevents downstream reporting errors.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57225" y="4089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62000" y="408935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the "Wait or Skip" decision.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57225" y="4489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62000" y="44894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Reduces manual intervention by 80%.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Delivery Efficiency Impact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43862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Significant reduction in nightly batch "Hold-ups" by processing independent tables.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9314"/>
            <a:ext cx="3492400" cy="2064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49314"/>
            <a:ext cx="3492549" cy="2064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849314"/>
            <a:ext cx="3492400" cy="206424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Full Process Architecture</a:t>
            </a:r>
            <a:endParaRPr/>
          </a:p>
        </p:txBody>
      </p:sp>
      <p:pic>
        <p:nvPicPr>
          <p:cNvPr descr="image.png" id="261" name="Google Shape;26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5300" y="305886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704217" y="3709094"/>
            <a:ext cx="3226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Monitoring Loop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781050" y="4102149"/>
            <a:ext cx="30733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 AM - 4 AM check on table ETL status.</a:t>
            </a:r>
            <a:endParaRPr/>
          </a:p>
        </p:txBody>
      </p:sp>
      <p:pic>
        <p:nvPicPr>
          <p:cNvPr descr="image.png" id="264" name="Google Shape;26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451" y="305886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4482364" y="3709094"/>
            <a:ext cx="32271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Decision Mapping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4559200" y="4102149"/>
            <a:ext cx="30734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Consolidate table health to Extract Flag (Y/N).</a:t>
            </a:r>
            <a:endParaRPr/>
          </a:p>
        </p:txBody>
      </p:sp>
      <p:pic>
        <p:nvPicPr>
          <p:cNvPr descr="image.png" id="267" name="Google Shape;26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1750" y="305886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8260667" y="3709094"/>
            <a:ext cx="3226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Smart Trigger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8337500" y="4102149"/>
            <a:ext cx="30733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Extracts run based on confirmed Flag status.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Scalable Architecture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286375" cy="52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6334125" y="147637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Next Steps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334125" y="19526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framework can expand beyond simple Y/N checks to include: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419850" y="2714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524625" y="27146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Priority-based re-runs.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419850" y="3162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524625" y="31623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thresholding for large datasets.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419850" y="3609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524625" y="360997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alerting for 'N' status flags.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4000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92684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295275" y="324043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Questions &amp; Discussion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571500" y="418519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Optimizing data workflows through granular intelligence.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Image Sources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71500" y="260999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1500" y="33947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33852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71500" y="33852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1500" y="41700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41700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94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66875" y="275287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https://miro.medium.com/v2/resize:fit:1400/1*hnvheZeAKsu8MRA3mt9d0A.png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29985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timkimutai.medium.com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441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35376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https://images.klipfolio.com/website/public/6f1b14b5-1d2d-4a30-ac82-30869ca03ba4/powermetrics-dashboard_0.jpg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37833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www.klipfolio.com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280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66875" y="432241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https://static.vecteezy.com/system/resources/previews/068/801/009/non_2x/cloud-storage-3d-isometric-concept-with-isometry-people-design-for-web-woman-managing-digital-library-of-multimedia-data-and-documents-making-system-organization-with-backup-illustration-vector.jpg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66875" y="476622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